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256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6578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Представяне на темата: класификация на изображения на пътни знаци чрез CNN.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Обяснение на dataset-а: 43 класа, изображения 32x32x3, небалансирано разпределение.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1 показва ключовия проблем: моделът запаметява тренировъчните примери, но validation performance остава нисък.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Confusion matrix визуализира кои класове се бъркат. Използвам я, за да обоснова нуждата от втори регуляризиран експеримент.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Това е методологичният център: вторият експеримент оправя причините за overfitting, а не само симптомите.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 втория run validation accuracy достига близо 98.4%, а test accuracy 97.89%.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Крайна оценка на модела върху test set-а. Confusion matrix е основното визуално доказателство.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Най-важният слайд за защита: Run 2 е по-добър по accuracy, loss, macro и weighted F1, и има правилна validation методология.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Завършвам с извод: CNN работи много добре за GTSRB, но validation методологията и регуляризацията са решаващи.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B31D3-B545-72C4-7D18-13094D232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F1EBEA-3AD8-8EB6-9ABA-E95D7D6E3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887EFF-868B-B060-EC71-FFDC1C585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Представяне на темата: класификация на изображения на пътни знаци чрез CNN.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101920-003F-8485-C810-A69C18C415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203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ubomir-angelov/GTSRM-CNN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kaggle.com/code/lyubomirangelov/gtsrb-cn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81328"/>
            <a:ext cx="108813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Разпознаване на пътни знаци с CNN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417320" y="2331720"/>
            <a:ext cx="9326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Курсова работа по Невронни мрежи и машинно обучение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944368"/>
            <a:ext cx="101498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GTSRB dataset · TensorFlow/Keras · сравнение на два експеримента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468880" y="4114800"/>
            <a:ext cx="722376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6" name="Text 4"/>
          <p:cNvSpPr/>
          <p:nvPr/>
        </p:nvSpPr>
        <p:spPr>
          <a:xfrm>
            <a:off x="1737360" y="5138928"/>
            <a:ext cx="87782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bg-BG" sz="120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От: Любомир Ангелов</a:t>
            </a:r>
            <a:br>
              <a:rPr lang="bg-BG" sz="120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</a:br>
            <a:r>
              <a:rPr lang="bg-BG" sz="120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Ф.Н.: 24346001</a:t>
            </a:r>
            <a:br>
              <a:rPr lang="bg-BG" sz="120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</a:br>
            <a:r>
              <a:rPr lang="bg-BG" sz="120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БСУ, ЦИТН</a:t>
            </a:r>
          </a:p>
          <a:p>
            <a:pPr marL="0" indent="0" algn="ctr">
              <a:buNone/>
            </a:pPr>
            <a:r>
              <a:rPr lang="bg-BG" sz="120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Гр. Бургас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1/9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и данни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GTSRB: multi-class image classification с 43 класа пътни знаци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</a:rPr>
              <a:t>43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8562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класа пътни знаци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560320" y="1325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A34A"/>
                </a:solidFill>
              </a:rPr>
              <a:t>12 630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560320" y="18562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test изображения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66344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6D28D9"/>
                </a:solidFill>
              </a:rPr>
              <a:t>32×32×3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663440" y="18562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размер на входа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2514600"/>
            <a:ext cx="4983480" cy="2331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Цел: за всяко входно изображение моделът избира един от 43 класа.</a:t>
            </a:r>
            <a:endParaRPr lang="en-US" sz="1650" dirty="0"/>
          </a:p>
          <a:p>
            <a:r>
              <a:rPr lang="en-US" sz="16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Данните са небалансирани — някои класове имат над 2000 примера, други под 300.</a:t>
            </a:r>
            <a:endParaRPr lang="en-US" sz="1650" dirty="0"/>
          </a:p>
          <a:p>
            <a:r>
              <a:rPr lang="en-US" sz="16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Това прави задачата по-реалистична и полезна за оценка на обобщението.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720840" y="1234440"/>
            <a:ext cx="4389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1: разпределение на класовете</a:t>
            </a:r>
            <a:endParaRPr lang="en-US" sz="1250" dirty="0"/>
          </a:p>
        </p:txBody>
      </p:sp>
      <p:pic>
        <p:nvPicPr>
          <p:cNvPr id="13" name="Image 0" descr="/mnt/data/class_distribution_run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763268"/>
            <a:ext cx="4892040" cy="16306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720840" y="3694176"/>
            <a:ext cx="4389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2: официален train split</a:t>
            </a:r>
            <a:endParaRPr lang="en-US" sz="1250" dirty="0"/>
          </a:p>
        </p:txBody>
      </p:sp>
      <p:pic>
        <p:nvPicPr>
          <p:cNvPr id="15" name="Image 1" descr="/mnt/data/class_distribution_run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209288"/>
            <a:ext cx="4892040" cy="16306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2928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2/9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Експеримент 1: базов CNN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Първият модел постига висока train accuracy, но показва силен train/validation gap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pic>
        <p:nvPicPr>
          <p:cNvPr id="5" name="Image 0" descr="/mnt/data/training_curves_run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62760"/>
            <a:ext cx="6492240" cy="3606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60920" y="14813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</a:rPr>
              <a:t>93.68%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60920" y="20116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test accuracy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9601200" y="14813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</a:rPr>
              <a:t>≈73.5%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9601200" y="2011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best validation acc.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406640" y="2743200"/>
            <a:ext cx="4160520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Почти 100% accuracy върху training set.</a:t>
            </a:r>
            <a:endParaRPr lang="en-US" sz="1650" dirty="0"/>
          </a:p>
          <a:p>
            <a:r>
              <a:rPr lang="en-US" sz="16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loss остава висок и нестабилен.</a:t>
            </a:r>
            <a:endParaRPr lang="en-US" sz="1650" dirty="0"/>
          </a:p>
          <a:p>
            <a:r>
              <a:rPr lang="en-US" sz="16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Причина: train.p + valid.p са слети, после е използван validation_split; classifier head е по-голям.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7406640" y="5413248"/>
            <a:ext cx="41605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Извод: приемлив test резултат, но ясно изразен overfitting.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12928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3/9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1: грешки по класове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Confusion matrix показва силна диагонална структура, но и проблемни класове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pic>
        <p:nvPicPr>
          <p:cNvPr id="5" name="Image 0" descr="/mnt/data/confusion_matrix_run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24940"/>
            <a:ext cx="5852160" cy="4876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86600" y="1417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2238"/>
                </a:solidFill>
              </a:rPr>
              <a:t>Най-слаби класове по F1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086600" y="1874520"/>
            <a:ext cx="640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909560" y="1874520"/>
            <a:ext cx="548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41080" y="1874520"/>
            <a:ext cx="2834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Коментар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086600" y="2212848"/>
            <a:ext cx="438912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1" name="Text 8"/>
          <p:cNvSpPr/>
          <p:nvPr/>
        </p:nvSpPr>
        <p:spPr>
          <a:xfrm>
            <a:off x="7086600" y="2423160"/>
            <a:ext cx="640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09560" y="2423160"/>
            <a:ext cx="548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41080" y="2423160"/>
            <a:ext cx="2834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неразпознат в test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086600" y="2834640"/>
            <a:ext cx="640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909560" y="2834640"/>
            <a:ext cx="548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0.44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641080" y="2834640"/>
            <a:ext cx="2834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малък клас, трудно обобщение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086600" y="3246120"/>
            <a:ext cx="640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909560" y="3246120"/>
            <a:ext cx="548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0.55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641080" y="3246120"/>
            <a:ext cx="2834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много фалшиви позитиви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086600" y="3657600"/>
            <a:ext cx="640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909560" y="3657600"/>
            <a:ext cx="548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0.58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641080" y="3657600"/>
            <a:ext cx="2834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висок recall, ниска precision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086600" y="4069080"/>
            <a:ext cx="640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909560" y="4069080"/>
            <a:ext cx="548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641080" y="4069080"/>
            <a:ext cx="2834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остава проблемен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086600" y="4892040"/>
            <a:ext cx="44805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1 не е провал: диагоналът показва научени класове. Проблемът е, че моделът не обобщава равномерно за всички класове.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12928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4/9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е ограничен overfitting-ът във втория run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Цел: по-добро обобщение, не само по-висока training accuracy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2238"/>
                </a:solidFill>
              </a:rPr>
              <a:t>Промяна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15468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2238"/>
                </a:solidFill>
              </a:rPr>
              <a:t>Ефект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7240" y="1755648"/>
            <a:ext cx="6400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8" name="Text 6"/>
          <p:cNvSpPr/>
          <p:nvPr/>
        </p:nvSpPr>
        <p:spPr>
          <a:xfrm>
            <a:off x="777240" y="1975104"/>
            <a:ext cx="2148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Отделен valid.p</a:t>
            </a:r>
            <a:endParaRPr lang="en-US" sz="1330" dirty="0"/>
          </a:p>
        </p:txBody>
      </p:sp>
      <p:sp>
        <p:nvSpPr>
          <p:cNvPr id="9" name="Text 7"/>
          <p:cNvSpPr/>
          <p:nvPr/>
        </p:nvSpPr>
        <p:spPr>
          <a:xfrm>
            <a:off x="3154680" y="1975104"/>
            <a:ext cx="4069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реална validation оценка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777240" y="2414016"/>
            <a:ext cx="2148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223K вместо 824K параметъра</a:t>
            </a:r>
            <a:endParaRPr lang="en-US" sz="1330" dirty="0"/>
          </a:p>
        </p:txBody>
      </p:sp>
      <p:sp>
        <p:nvSpPr>
          <p:cNvPr id="11" name="Text 9"/>
          <p:cNvSpPr/>
          <p:nvPr/>
        </p:nvSpPr>
        <p:spPr>
          <a:xfrm>
            <a:off x="3154680" y="2414016"/>
            <a:ext cx="4069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по-малък капацитет за запаметяване</a:t>
            </a:r>
            <a:endParaRPr lang="en-US" sz="1330" dirty="0"/>
          </a:p>
        </p:txBody>
      </p:sp>
      <p:sp>
        <p:nvSpPr>
          <p:cNvPr id="12" name="Text 10"/>
          <p:cNvSpPr/>
          <p:nvPr/>
        </p:nvSpPr>
        <p:spPr>
          <a:xfrm>
            <a:off x="777240" y="2852928"/>
            <a:ext cx="2148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GlobalAveragePooling2D</a:t>
            </a:r>
            <a:endParaRPr lang="en-US" sz="1330" dirty="0"/>
          </a:p>
        </p:txBody>
      </p:sp>
      <p:sp>
        <p:nvSpPr>
          <p:cNvPr id="13" name="Text 11"/>
          <p:cNvSpPr/>
          <p:nvPr/>
        </p:nvSpPr>
        <p:spPr>
          <a:xfrm>
            <a:off x="3154680" y="2852928"/>
            <a:ext cx="4069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заменя тежкия Flatten + Dense head</a:t>
            </a:r>
            <a:endParaRPr lang="en-US" sz="1330" dirty="0"/>
          </a:p>
        </p:txBody>
      </p:sp>
      <p:sp>
        <p:nvSpPr>
          <p:cNvPr id="14" name="Text 12"/>
          <p:cNvSpPr/>
          <p:nvPr/>
        </p:nvSpPr>
        <p:spPr>
          <a:xfrm>
            <a:off x="777240" y="3291840"/>
            <a:ext cx="2148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SpatialDropout2D + Dropout</a:t>
            </a:r>
            <a:endParaRPr lang="en-US" sz="1330" dirty="0"/>
          </a:p>
        </p:txBody>
      </p:sp>
      <p:sp>
        <p:nvSpPr>
          <p:cNvPr id="15" name="Text 13"/>
          <p:cNvSpPr/>
          <p:nvPr/>
        </p:nvSpPr>
        <p:spPr>
          <a:xfrm>
            <a:off x="3154680" y="3291840"/>
            <a:ext cx="4069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редуцира зависимостта от feature maps</a:t>
            </a:r>
            <a:endParaRPr lang="en-US" sz="1330" dirty="0"/>
          </a:p>
        </p:txBody>
      </p:sp>
      <p:sp>
        <p:nvSpPr>
          <p:cNvPr id="16" name="Text 14"/>
          <p:cNvSpPr/>
          <p:nvPr/>
        </p:nvSpPr>
        <p:spPr>
          <a:xfrm>
            <a:off x="777240" y="3730752"/>
            <a:ext cx="2148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+ AdamW</a:t>
            </a:r>
            <a:endParaRPr lang="en-US" sz="1330" dirty="0"/>
          </a:p>
        </p:txBody>
      </p:sp>
      <p:sp>
        <p:nvSpPr>
          <p:cNvPr id="17" name="Text 15"/>
          <p:cNvSpPr/>
          <p:nvPr/>
        </p:nvSpPr>
        <p:spPr>
          <a:xfrm>
            <a:off x="3154680" y="3730752"/>
            <a:ext cx="4069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наказва големите тегла</a:t>
            </a:r>
            <a:endParaRPr lang="en-US" sz="1330" dirty="0"/>
          </a:p>
        </p:txBody>
      </p:sp>
      <p:sp>
        <p:nvSpPr>
          <p:cNvPr id="18" name="Text 16"/>
          <p:cNvSpPr/>
          <p:nvPr/>
        </p:nvSpPr>
        <p:spPr>
          <a:xfrm>
            <a:off x="777240" y="4169664"/>
            <a:ext cx="2148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По-силна augmentation</a:t>
            </a:r>
            <a:endParaRPr lang="en-US" sz="1330" dirty="0"/>
          </a:p>
        </p:txBody>
      </p:sp>
      <p:sp>
        <p:nvSpPr>
          <p:cNvPr id="19" name="Text 17"/>
          <p:cNvSpPr/>
          <p:nvPr/>
        </p:nvSpPr>
        <p:spPr>
          <a:xfrm>
            <a:off x="3154680" y="4169664"/>
            <a:ext cx="4069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симулира вариации в перспектива и контраст</a:t>
            </a:r>
            <a:endParaRPr lang="en-US" sz="1330" dirty="0"/>
          </a:p>
        </p:txBody>
      </p:sp>
      <p:sp>
        <p:nvSpPr>
          <p:cNvPr id="20" name="Text 18"/>
          <p:cNvSpPr/>
          <p:nvPr/>
        </p:nvSpPr>
        <p:spPr>
          <a:xfrm>
            <a:off x="777240" y="4608576"/>
            <a:ext cx="2148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stopping</a:t>
            </a:r>
            <a:endParaRPr lang="en-US" sz="1330" dirty="0"/>
          </a:p>
        </p:txBody>
      </p:sp>
      <p:sp>
        <p:nvSpPr>
          <p:cNvPr id="21" name="Text 19"/>
          <p:cNvSpPr/>
          <p:nvPr/>
        </p:nvSpPr>
        <p:spPr>
          <a:xfrm>
            <a:off x="3154680" y="4608576"/>
            <a:ext cx="4069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връща best weights по validation loss</a:t>
            </a:r>
            <a:endParaRPr lang="en-US" sz="1330" dirty="0"/>
          </a:p>
        </p:txBody>
      </p:sp>
      <p:sp>
        <p:nvSpPr>
          <p:cNvPr id="22" name="Text 20"/>
          <p:cNvSpPr/>
          <p:nvPr/>
        </p:nvSpPr>
        <p:spPr>
          <a:xfrm>
            <a:off x="7635240" y="1508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A34A"/>
                </a:solidFill>
              </a:rPr>
              <a:t>223 506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635240" y="20391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параметъра Run 2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635240" y="26334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</a:rPr>
              <a:t>−73%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635240" y="31638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по-малък от Run 1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635240" y="3886200"/>
            <a:ext cx="361188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Вторият модел не е просто „по-силен“, а е по-добре контролиран — по-малък, регуляризиран и валидиран правилно.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12928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5/9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Експеримент 2: регуляризиран CNN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Кривите вече са близки: train и validation се развиват синхронно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pic>
        <p:nvPicPr>
          <p:cNvPr id="5" name="Image 0" descr="/mnt/data/training_curves_run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62760"/>
            <a:ext cx="6492240" cy="3606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60920" y="1508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A34A"/>
                </a:solidFill>
              </a:rPr>
              <a:t>98.41%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60920" y="20391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validation accuracy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9646920" y="15087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</a:rPr>
              <a:t>97.89%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9646920" y="203911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test accuracy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406640" y="2788920"/>
            <a:ext cx="416052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loss намалява заедно с training loss.</a:t>
            </a:r>
            <a:endParaRPr lang="en-US" sz="1650" dirty="0"/>
          </a:p>
          <a:p>
            <a:r>
              <a:rPr lang="en-US" sz="16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Моделът спира на epoch 25 и връща weights от epoch 17.</a:t>
            </a:r>
            <a:endParaRPr lang="en-US" sz="1650" dirty="0"/>
          </a:p>
          <a:p>
            <a:r>
              <a:rPr lang="en-US" sz="16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Разликата между train и validation accuracy е около 1 процентен пункт в края.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7406640" y="5440680"/>
            <a:ext cx="41605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Извод: overfitting-ът е овладян и test accuracy се повишава.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2928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6/9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2: confusion matrix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Повечето предсказания са по главния диагонал; грешките са значително по-малко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pic>
        <p:nvPicPr>
          <p:cNvPr id="5" name="Image 0" descr="/mnt/data/confusion_matrix_run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24940"/>
            <a:ext cx="5852160" cy="4876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86600" y="1417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2238"/>
                </a:solidFill>
              </a:rPr>
              <a:t>Класификационен отчет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08660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32688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Стойност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086600" y="2212848"/>
            <a:ext cx="438912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0" name="Text 7"/>
          <p:cNvSpPr/>
          <p:nvPr/>
        </p:nvSpPr>
        <p:spPr>
          <a:xfrm>
            <a:off x="7086600" y="2423160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32688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97.89%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086600" y="2834640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32688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96.59%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086600" y="3246120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F1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32688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97.89%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086600" y="3657600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loss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326880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0.1393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086600" y="4069080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Най-слаб F1 клас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326880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21: 80.63%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086600" y="4480560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Най-добри класове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326880" y="4480560"/>
            <a:ext cx="2194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 16, 19, 37: 100% F1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086600" y="5212080"/>
            <a:ext cx="44805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Диагоналът в матрицата е много по-изразен спрямо Run 1, което означава по-стабилно разпознаване на класовете.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112928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7/9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между двата run-а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Вторият експеримент подобрява едновременно точността и генерализацията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2468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Критерий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70332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1: baseline CNN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8952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2: regularized CNN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1755648"/>
            <a:ext cx="10424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9" name="Text 7"/>
          <p:cNvSpPr/>
          <p:nvPr/>
        </p:nvSpPr>
        <p:spPr>
          <a:xfrm>
            <a:off x="685800" y="1993392"/>
            <a:ext cx="2468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подход</a:t>
            </a:r>
            <a:endParaRPr lang="en-US" sz="1310" dirty="0"/>
          </a:p>
        </p:txBody>
      </p:sp>
      <p:sp>
        <p:nvSpPr>
          <p:cNvPr id="10" name="Text 8"/>
          <p:cNvSpPr/>
          <p:nvPr/>
        </p:nvSpPr>
        <p:spPr>
          <a:xfrm>
            <a:off x="3703320" y="1993392"/>
            <a:ext cx="3474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validation_split след сливане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7589520" y="1993392"/>
            <a:ext cx="3474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отделен valid.p</a:t>
            </a:r>
            <a:endParaRPr lang="en-US" sz="1310" dirty="0"/>
          </a:p>
        </p:txBody>
      </p:sp>
      <p:sp>
        <p:nvSpPr>
          <p:cNvPr id="12" name="Text 10"/>
          <p:cNvSpPr/>
          <p:nvPr/>
        </p:nvSpPr>
        <p:spPr>
          <a:xfrm>
            <a:off x="685800" y="2432304"/>
            <a:ext cx="2468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Параметри</a:t>
            </a:r>
            <a:endParaRPr lang="en-US" sz="1310" dirty="0"/>
          </a:p>
        </p:txBody>
      </p:sp>
      <p:sp>
        <p:nvSpPr>
          <p:cNvPr id="13" name="Text 11"/>
          <p:cNvSpPr/>
          <p:nvPr/>
        </p:nvSpPr>
        <p:spPr>
          <a:xfrm>
            <a:off x="3703320" y="2432304"/>
            <a:ext cx="3474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824 523</a:t>
            </a:r>
            <a:endParaRPr lang="en-US" sz="1310" dirty="0"/>
          </a:p>
        </p:txBody>
      </p:sp>
      <p:sp>
        <p:nvSpPr>
          <p:cNvPr id="14" name="Text 12"/>
          <p:cNvSpPr/>
          <p:nvPr/>
        </p:nvSpPr>
        <p:spPr>
          <a:xfrm>
            <a:off x="7589520" y="2432304"/>
            <a:ext cx="3474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223 506</a:t>
            </a:r>
            <a:endParaRPr lang="en-US" sz="1310" dirty="0"/>
          </a:p>
        </p:txBody>
      </p:sp>
      <p:sp>
        <p:nvSpPr>
          <p:cNvPr id="15" name="Text 13"/>
          <p:cNvSpPr/>
          <p:nvPr/>
        </p:nvSpPr>
        <p:spPr>
          <a:xfrm>
            <a:off x="685800" y="2871216"/>
            <a:ext cx="2468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accuracy</a:t>
            </a:r>
            <a:endParaRPr lang="en-US" sz="1310" dirty="0"/>
          </a:p>
        </p:txBody>
      </p:sp>
      <p:sp>
        <p:nvSpPr>
          <p:cNvPr id="16" name="Text 14"/>
          <p:cNvSpPr/>
          <p:nvPr/>
        </p:nvSpPr>
        <p:spPr>
          <a:xfrm>
            <a:off x="3703320" y="2871216"/>
            <a:ext cx="3474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≈73.5%</a:t>
            </a:r>
            <a:endParaRPr lang="en-US" sz="1310" dirty="0"/>
          </a:p>
        </p:txBody>
      </p:sp>
      <p:sp>
        <p:nvSpPr>
          <p:cNvPr id="17" name="Text 15"/>
          <p:cNvSpPr/>
          <p:nvPr/>
        </p:nvSpPr>
        <p:spPr>
          <a:xfrm>
            <a:off x="7589520" y="2871216"/>
            <a:ext cx="3474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98.41%</a:t>
            </a:r>
            <a:endParaRPr lang="en-US" sz="1310" dirty="0"/>
          </a:p>
        </p:txBody>
      </p:sp>
      <p:sp>
        <p:nvSpPr>
          <p:cNvPr id="18" name="Shape 16"/>
          <p:cNvSpPr/>
          <p:nvPr/>
        </p:nvSpPr>
        <p:spPr>
          <a:xfrm>
            <a:off x="685800" y="3182112"/>
            <a:ext cx="10424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9" name="Text 17"/>
          <p:cNvSpPr/>
          <p:nvPr/>
        </p:nvSpPr>
        <p:spPr>
          <a:xfrm>
            <a:off x="685800" y="3310128"/>
            <a:ext cx="2468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1310" dirty="0"/>
          </a:p>
        </p:txBody>
      </p:sp>
      <p:sp>
        <p:nvSpPr>
          <p:cNvPr id="20" name="Text 18"/>
          <p:cNvSpPr/>
          <p:nvPr/>
        </p:nvSpPr>
        <p:spPr>
          <a:xfrm>
            <a:off x="3703320" y="3310128"/>
            <a:ext cx="3474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93.68%</a:t>
            </a:r>
            <a:endParaRPr lang="en-US" sz="1310" dirty="0"/>
          </a:p>
        </p:txBody>
      </p:sp>
      <p:sp>
        <p:nvSpPr>
          <p:cNvPr id="21" name="Text 19"/>
          <p:cNvSpPr/>
          <p:nvPr/>
        </p:nvSpPr>
        <p:spPr>
          <a:xfrm>
            <a:off x="7589520" y="3310128"/>
            <a:ext cx="3474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97.89%</a:t>
            </a:r>
            <a:endParaRPr lang="en-US" sz="1310" dirty="0"/>
          </a:p>
        </p:txBody>
      </p:sp>
      <p:sp>
        <p:nvSpPr>
          <p:cNvPr id="22" name="Text 20"/>
          <p:cNvSpPr/>
          <p:nvPr/>
        </p:nvSpPr>
        <p:spPr>
          <a:xfrm>
            <a:off x="685800" y="3749040"/>
            <a:ext cx="2468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loss</a:t>
            </a:r>
            <a:endParaRPr lang="en-US" sz="1310" dirty="0"/>
          </a:p>
        </p:txBody>
      </p:sp>
      <p:sp>
        <p:nvSpPr>
          <p:cNvPr id="23" name="Text 21"/>
          <p:cNvSpPr/>
          <p:nvPr/>
        </p:nvSpPr>
        <p:spPr>
          <a:xfrm>
            <a:off x="3703320" y="3749040"/>
            <a:ext cx="3474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0.5102</a:t>
            </a:r>
            <a:endParaRPr lang="en-US" sz="1310" dirty="0"/>
          </a:p>
        </p:txBody>
      </p:sp>
      <p:sp>
        <p:nvSpPr>
          <p:cNvPr id="24" name="Text 22"/>
          <p:cNvSpPr/>
          <p:nvPr/>
        </p:nvSpPr>
        <p:spPr>
          <a:xfrm>
            <a:off x="7589520" y="3749040"/>
            <a:ext cx="3474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0.1393</a:t>
            </a:r>
            <a:endParaRPr lang="en-US" sz="1310" dirty="0"/>
          </a:p>
        </p:txBody>
      </p:sp>
      <p:sp>
        <p:nvSpPr>
          <p:cNvPr id="25" name="Shape 23"/>
          <p:cNvSpPr/>
          <p:nvPr/>
        </p:nvSpPr>
        <p:spPr>
          <a:xfrm>
            <a:off x="685800" y="4059936"/>
            <a:ext cx="10424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26" name="Text 24"/>
          <p:cNvSpPr/>
          <p:nvPr/>
        </p:nvSpPr>
        <p:spPr>
          <a:xfrm>
            <a:off x="685800" y="4187952"/>
            <a:ext cx="2468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</a:t>
            </a:r>
            <a:endParaRPr lang="en-US" sz="1310" dirty="0"/>
          </a:p>
        </p:txBody>
      </p:sp>
      <p:sp>
        <p:nvSpPr>
          <p:cNvPr id="27" name="Text 25"/>
          <p:cNvSpPr/>
          <p:nvPr/>
        </p:nvSpPr>
        <p:spPr>
          <a:xfrm>
            <a:off x="3703320" y="4187952"/>
            <a:ext cx="3474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89.38%</a:t>
            </a:r>
            <a:endParaRPr lang="en-US" sz="1310" dirty="0"/>
          </a:p>
        </p:txBody>
      </p:sp>
      <p:sp>
        <p:nvSpPr>
          <p:cNvPr id="28" name="Text 26"/>
          <p:cNvSpPr/>
          <p:nvPr/>
        </p:nvSpPr>
        <p:spPr>
          <a:xfrm>
            <a:off x="7589520" y="4187952"/>
            <a:ext cx="3474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96.59%</a:t>
            </a:r>
            <a:endParaRPr lang="en-US" sz="1310" dirty="0"/>
          </a:p>
        </p:txBody>
      </p:sp>
      <p:sp>
        <p:nvSpPr>
          <p:cNvPr id="29" name="Text 27"/>
          <p:cNvSpPr/>
          <p:nvPr/>
        </p:nvSpPr>
        <p:spPr>
          <a:xfrm>
            <a:off x="685800" y="4626864"/>
            <a:ext cx="2468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F1</a:t>
            </a:r>
            <a:endParaRPr lang="en-US" sz="1310" dirty="0"/>
          </a:p>
        </p:txBody>
      </p:sp>
      <p:sp>
        <p:nvSpPr>
          <p:cNvPr id="30" name="Text 28"/>
          <p:cNvSpPr/>
          <p:nvPr/>
        </p:nvSpPr>
        <p:spPr>
          <a:xfrm>
            <a:off x="3703320" y="4626864"/>
            <a:ext cx="3474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92.50%</a:t>
            </a:r>
            <a:endParaRPr lang="en-US" sz="1310" dirty="0"/>
          </a:p>
        </p:txBody>
      </p:sp>
      <p:sp>
        <p:nvSpPr>
          <p:cNvPr id="31" name="Text 29"/>
          <p:cNvSpPr/>
          <p:nvPr/>
        </p:nvSpPr>
        <p:spPr>
          <a:xfrm>
            <a:off x="7589520" y="4626864"/>
            <a:ext cx="3474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97.89%</a:t>
            </a:r>
            <a:endParaRPr lang="en-US" sz="1310" dirty="0"/>
          </a:p>
        </p:txBody>
      </p:sp>
      <p:sp>
        <p:nvSpPr>
          <p:cNvPr id="32" name="Shape 30"/>
          <p:cNvSpPr/>
          <p:nvPr/>
        </p:nvSpPr>
        <p:spPr>
          <a:xfrm>
            <a:off x="685800" y="4937760"/>
            <a:ext cx="10424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33" name="Text 31"/>
          <p:cNvSpPr/>
          <p:nvPr/>
        </p:nvSpPr>
        <p:spPr>
          <a:xfrm>
            <a:off x="685800" y="5065776"/>
            <a:ext cx="2468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Интерпретация</a:t>
            </a:r>
            <a:endParaRPr lang="en-US" sz="1310" dirty="0"/>
          </a:p>
        </p:txBody>
      </p:sp>
      <p:sp>
        <p:nvSpPr>
          <p:cNvPr id="34" name="Text 32"/>
          <p:cNvSpPr/>
          <p:nvPr/>
        </p:nvSpPr>
        <p:spPr>
          <a:xfrm>
            <a:off x="3703320" y="5065776"/>
            <a:ext cx="3474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силен overfitting</a:t>
            </a:r>
            <a:endParaRPr lang="en-US" sz="1310" dirty="0"/>
          </a:p>
        </p:txBody>
      </p:sp>
      <p:sp>
        <p:nvSpPr>
          <p:cNvPr id="35" name="Text 33"/>
          <p:cNvSpPr/>
          <p:nvPr/>
        </p:nvSpPr>
        <p:spPr>
          <a:xfrm>
            <a:off x="7589520" y="5065776"/>
            <a:ext cx="3474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контролиран overfitting</a:t>
            </a:r>
            <a:endParaRPr lang="en-US" sz="1310" dirty="0"/>
          </a:p>
        </p:txBody>
      </p:sp>
      <p:sp>
        <p:nvSpPr>
          <p:cNvPr id="36" name="Text 34"/>
          <p:cNvSpPr/>
          <p:nvPr/>
        </p:nvSpPr>
        <p:spPr>
          <a:xfrm>
            <a:off x="731520" y="5925312"/>
            <a:ext cx="107442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Основен резултат: регуляризацията намалява overfitting-а и повишава test accuracy с ~4.2 процентни пункта.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2928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8/9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Изводи и развитие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CNN е подходяща технология за разпознаване на пътни знаци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644652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8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Конволюционните невронни мрежи извличат локални визуални признаци — контури, форми, цветове и символи.</a:t>
            </a:r>
            <a:endParaRPr lang="en-US" sz="1800" dirty="0"/>
          </a:p>
          <a:p>
            <a:r>
              <a:rPr lang="en-US" sz="18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1 доказа, че високата training accuracy не е достатъчна за надежден модел.</a:t>
            </a:r>
            <a:endParaRPr lang="en-US" sz="1800" dirty="0"/>
          </a:p>
          <a:p>
            <a:r>
              <a:rPr lang="en-US" sz="18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2 показа, че правилната validation схема и регуляризацията водят до 97.89% test accuracy.</a:t>
            </a:r>
            <a:endParaRPr lang="en-US" sz="1800" dirty="0"/>
          </a:p>
          <a:p>
            <a:r>
              <a:rPr lang="en-US" sz="18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Възможно развитие: MobileNet/ResNet, real-time detection, deployment в embedded/ADAS среда.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818120" y="16002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A34A"/>
                </a:solidFill>
              </a:rPr>
              <a:t>97.89%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818120" y="213055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финален test accuracy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818120" y="27889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</a:rPr>
              <a:t>43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818120" y="33192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брой класове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818120" y="38862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6D28D9"/>
                </a:solidFill>
              </a:rPr>
              <a:t>успешен CNN модел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818120" y="441655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обща оценка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5394960"/>
            <a:ext cx="103327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Ключово послание: за реални данни е важно не само моделът да се обучи, а да се контролира неговата способност за обобщение.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2928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9/9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613C7-51CE-1A8F-6DF7-5599126A5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72E1BBE-FBE1-30FE-ADFB-C2B37DAD326F}"/>
              </a:ext>
            </a:extLst>
          </p:cNvPr>
          <p:cNvSpPr/>
          <p:nvPr/>
        </p:nvSpPr>
        <p:spPr>
          <a:xfrm>
            <a:off x="685800" y="1481328"/>
            <a:ext cx="108813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bg-BG" sz="38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Благодаря за вниманието! </a:t>
            </a:r>
            <a:endParaRPr lang="en-US" sz="3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F43A014-173D-97CB-B632-F2D7861512B6}"/>
              </a:ext>
            </a:extLst>
          </p:cNvPr>
          <p:cNvSpPr/>
          <p:nvPr/>
        </p:nvSpPr>
        <p:spPr>
          <a:xfrm>
            <a:off x="1417320" y="2331720"/>
            <a:ext cx="9326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bg-BG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Въпроси?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3CBD329-1539-F76C-3539-D2105DB42969}"/>
              </a:ext>
            </a:extLst>
          </p:cNvPr>
          <p:cNvSpPr/>
          <p:nvPr/>
        </p:nvSpPr>
        <p:spPr>
          <a:xfrm>
            <a:off x="1005840" y="2944368"/>
            <a:ext cx="101498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bg-BG" sz="17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Любомир Ангелов</a:t>
            </a:r>
            <a:r>
              <a:rPr lang="en-US" sz="17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bg-BG" sz="17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БСУ</a:t>
            </a:r>
            <a:r>
              <a:rPr lang="en-US" sz="17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bg-BG" sz="17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ЦИТН </a:t>
            </a:r>
            <a:r>
              <a:rPr lang="en-US" sz="17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r>
              <a:rPr lang="bg-BG" sz="17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2026</a:t>
            </a:r>
            <a:endParaRPr lang="en-US" sz="17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8209849-A2D9-70B3-0601-03C653A7BA97}"/>
              </a:ext>
            </a:extLst>
          </p:cNvPr>
          <p:cNvSpPr/>
          <p:nvPr/>
        </p:nvSpPr>
        <p:spPr>
          <a:xfrm>
            <a:off x="2468880" y="4114800"/>
            <a:ext cx="722376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948CA13-A845-AACC-8F2B-6061A7E3E890}"/>
              </a:ext>
            </a:extLst>
          </p:cNvPr>
          <p:cNvSpPr/>
          <p:nvPr/>
        </p:nvSpPr>
        <p:spPr>
          <a:xfrm>
            <a:off x="1737360" y="5138928"/>
            <a:ext cx="87782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algn="ctr"/>
            <a:r>
              <a:rPr lang="bg-BG" sz="120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Линкове:</a:t>
            </a:r>
            <a:br>
              <a:rPr lang="bg-BG" sz="120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1200" dirty="0">
                <a:solidFill>
                  <a:srgbClr val="475569"/>
                </a:solidFill>
                <a:latin typeface="Arial" pitchFamily="34" charset="0"/>
                <a:cs typeface="Arial" pitchFamily="34" charset="-120"/>
                <a:hlinkClick r:id="rId3"/>
              </a:rPr>
              <a:t>https://github.com/lubomir-angelov/GTSRM-CNN</a:t>
            </a:r>
            <a:br>
              <a:rPr lang="bg-BG" sz="120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1200" dirty="0">
                <a:solidFill>
                  <a:srgbClr val="475569"/>
                </a:solidFill>
                <a:latin typeface="Arial" pitchFamily="34" charset="0"/>
                <a:cs typeface="Arial" pitchFamily="34" charset="-120"/>
                <a:hlinkClick r:id="rId4"/>
              </a:rPr>
              <a:t>https://www.kaggle.com/code/lyubomirangelov/gtsrb-cnn</a:t>
            </a:r>
            <a:endParaRPr lang="bg-BG" sz="1200" dirty="0">
              <a:solidFill>
                <a:srgbClr val="475569"/>
              </a:solidFill>
              <a:latin typeface="Arial" pitchFamily="34" charset="0"/>
              <a:cs typeface="Arial" pitchFamily="34" charset="-120"/>
            </a:endParaRPr>
          </a:p>
          <a:p>
            <a:pPr algn="ctr"/>
            <a:endParaRPr lang="en-US" sz="1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3371D50-6FA2-B12B-F80A-42D6CEE75C44}"/>
              </a:ext>
            </a:extLst>
          </p:cNvPr>
          <p:cNvSpPr/>
          <p:nvPr/>
        </p:nvSpPr>
        <p:spPr>
          <a:xfrm>
            <a:off x="112928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1/9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14257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945</Words>
  <Application>Microsoft Office PowerPoint</Application>
  <PresentationFormat>Widescreen</PresentationFormat>
  <Paragraphs>178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OpenAI</dc:creator>
  <cp:lastModifiedBy>Lyubomir Angelov</cp:lastModifiedBy>
  <cp:revision>4</cp:revision>
  <dcterms:created xsi:type="dcterms:W3CDTF">2026-05-30T05:05:10Z</dcterms:created>
  <dcterms:modified xsi:type="dcterms:W3CDTF">2026-05-30T05:28:28Z</dcterms:modified>
</cp:coreProperties>
</file>